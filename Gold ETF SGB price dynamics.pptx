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ucidity Condensed" charset="1" panose="00000600000000000000"/>
      <p:regular r:id="rId22"/>
    </p:embeddedFont>
    <p:embeddedFont>
      <p:font typeface="Montserrat Bold" charset="1" panose="00000800000000000000"/>
      <p:regular r:id="rId23"/>
    </p:embeddedFont>
    <p:embeddedFont>
      <p:font typeface="Montserrat" charset="1" panose="00000500000000000000"/>
      <p:regular r:id="rId25"/>
    </p:embeddedFont>
    <p:embeddedFont>
      <p:font typeface="Montserrat Italics" charset="1" panose="00000500000000000000"/>
      <p:regular r:id="rId27"/>
    </p:embeddedFont>
    <p:embeddedFont>
      <p:font typeface="Montserrat Bold Italics" charset="1" panose="00000800000000000000"/>
      <p:regular r:id="rId30"/>
    </p:embeddedFont>
    <p:embeddedFont>
      <p:font typeface="Canva Sans" charset="1" panose="020B0503030501040103"/>
      <p:regular r:id="rId32"/>
    </p:embeddedFont>
    <p:embeddedFont>
      <p:font typeface="Canva Sans Bold" charset="1" panose="020B0803030501040103"/>
      <p:regular r:id="rId33"/>
    </p:embeddedFont>
    <p:embeddedFont>
      <p:font typeface="Canva Sans Bold Italics" charset="1" panose="020B0803030501040103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 — Title Slide</a:t>
            </a:r>
          </a:p>
          <a:p>
            <a:r>
              <a:rPr lang="en-US"/>
              <a:t>Haripriya:</a:t>
            </a:r>
          </a:p>
          <a:p>
            <a:r>
              <a:rPr lang="en-US"/>
              <a:t>Our paper is titled “Gold as a Financial Asset in Transition : Comparative Evidence from Sovereign Gold Bonds, ETFs, and Physical Holdings in India.” Our central idea is to understand how India’s traditional love for gold has evolved — from wearing it as jewelry to holding it as a financial asset.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________________________________________</a:t>
            </a:r>
          </a:p>
          <a:p>
            <a:r>
              <a:rPr lang="en-US"/>
              <a:t>Slide 2 — Introduction</a:t>
            </a:r>
          </a:p>
          <a:p>
            <a:r>
              <a:rPr lang="en-US"/>
              <a:t>Saloni:</a:t>
            </a:r>
          </a:p>
          <a:p>
            <a:r>
              <a:rPr lang="en-US"/>
              <a:t>Gold has always had a unique place in India — not just culturally, but economically.</a:t>
            </a:r>
          </a:p>
          <a:p>
            <a:r>
              <a:rPr lang="en-US"/>
              <a:t>For generations, families have treated gold as a store of value, a hedge against inflation, and a safe haven in uncertain times. But India meets almost all its gold demand through imports.</a:t>
            </a:r>
          </a:p>
          <a:p>
            <a:r>
              <a:rPr lang="en-US"/>
              <a:t>That pushes up our current account deficit and can even weaken the rupee.</a:t>
            </a:r>
          </a:p>
          <a:p>
            <a:r>
              <a:rPr lang="en-US"/>
              <a:t>To address this, newer options like Sovereign Gold Bonds (SGBs) and Gold ETFs have emerged : offering the shine of gold without the burden of imports.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3 — Understanding Gold Investment Instruments</a:t>
            </a:r>
          </a:p>
          <a:p>
            <a:r>
              <a:rPr lang="en-US"/>
              <a:t>Haripriya:</a:t>
            </a:r>
          </a:p>
          <a:p>
            <a:r>
              <a:rPr lang="en-US"/>
              <a:t>Let’s quickly compare these two modern investment forms.</a:t>
            </a:r>
          </a:p>
          <a:p>
            <a:r>
              <a:rPr lang="en-US"/>
              <a:t>SGBs are issued by the Government of India and managed by the RBI.</a:t>
            </a:r>
          </a:p>
          <a:p>
            <a:r>
              <a:rPr lang="en-US"/>
              <a:t>They represent digital gold ownership.</a:t>
            </a:r>
          </a:p>
          <a:p>
            <a:r>
              <a:rPr lang="en-US"/>
              <a:t>You get a 2.5% annual interest, along with price appreciation, and they’re completely tax-free if held till maturity.</a:t>
            </a:r>
          </a:p>
          <a:p>
            <a:r>
              <a:rPr lang="en-US"/>
              <a:t>In contrast, Gold ETFs are traded on exchanges like NSE and BSE.</a:t>
            </a:r>
          </a:p>
          <a:p>
            <a:r>
              <a:rPr lang="en-US"/>
              <a:t>Each unit equals about one gram of gold and reflects daily market prices.</a:t>
            </a:r>
          </a:p>
          <a:p>
            <a:r>
              <a:rPr lang="en-US"/>
              <a:t>They’re great for short-term liquidity and trading, though they don’t pay interest.</a:t>
            </a:r>
          </a:p>
          <a:p>
            <a:r>
              <a:rPr lang="en-US"/>
              <a:t>So in short —</a:t>
            </a:r>
          </a:p>
          <a:p>
            <a:r>
              <a:rPr lang="en-US"/>
              <a:t>SGBs are safe, interest-earning, and ideal for long-term investors,</a:t>
            </a:r>
          </a:p>
          <a:p>
            <a:r>
              <a:rPr lang="en-US"/>
              <a:t>while ETFs are liquid, market-linked, and better for short-term flexibility.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4 — Research Objective</a:t>
            </a:r>
          </a:p>
          <a:p>
            <a:r>
              <a:rPr lang="en-US"/>
              <a:t>Saloni:</a:t>
            </a:r>
          </a:p>
          <a:p>
            <a:r>
              <a:rPr lang="en-US"/>
              <a:t>Our study had four clear objectives:</a:t>
            </a:r>
          </a:p>
          <a:p>
            <a:r>
              <a:rPr lang="en-US"/>
              <a:t>1.	To compare returns and volatility of SGBs, ETFs, and Physical Gold.</a:t>
            </a:r>
          </a:p>
          <a:p>
            <a:r>
              <a:rPr lang="en-US"/>
              <a:t>2.	To assess liquidity and see which suits different investors.</a:t>
            </a:r>
          </a:p>
          <a:p>
            <a:r>
              <a:rPr lang="en-US"/>
              <a:t>3.	To find which one offers the best risk-adjusted performance.</a:t>
            </a:r>
          </a:p>
          <a:p>
            <a:r>
              <a:rPr lang="en-US"/>
              <a:t>4.	And finally, to draw policy implications — how financial gold can reduce our dependence on imports.</a:t>
            </a:r>
          </a:p>
          <a:p>
            <a:r>
              <a:rPr lang="en-US"/>
              <a:t>So essentially, we’re testing — which form of gold investment works best, and for whom?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5 — Data and Variables</a:t>
            </a:r>
          </a:p>
          <a:p>
            <a:r>
              <a:rPr lang="en-US"/>
              <a:t>Haripriya:</a:t>
            </a:r>
          </a:p>
          <a:p>
            <a:r>
              <a:rPr lang="en-US"/>
              <a:t>For this, we used daily data from June 2020 to May 2025, covering around five years.</a:t>
            </a:r>
          </a:p>
          <a:p>
            <a:r>
              <a:rPr lang="en-US"/>
              <a:t>The period is interesting — it includes post-COVID market cycles, so we get to see how resilient each instrument is during both crisis and recovery.</a:t>
            </a:r>
          </a:p>
          <a:p>
            <a:r>
              <a:rPr lang="en-US"/>
              <a:t>Our data came from the RBI and NSE, with key variables like closing prices and log returns.</a:t>
            </a:r>
          </a:p>
          <a:p>
            <a:r>
              <a:rPr lang="en-US"/>
              <a:t>We used Excel for cleaning and Python for analysis.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6 — Methodology</a:t>
            </a:r>
          </a:p>
          <a:p>
            <a:r>
              <a:rPr lang="en-US"/>
              <a:t>Saloni:</a:t>
            </a:r>
          </a:p>
          <a:p>
            <a:r>
              <a:rPr lang="en-US"/>
              <a:t>Our process had four main steps — Collect, Clean, Analyze, and Visualize.</a:t>
            </a:r>
          </a:p>
          <a:p>
            <a:r>
              <a:rPr lang="en-US"/>
              <a:t>We gathered daily price data for all three instruments, standardized and aligned the trading dates, and then computed log returns to capture daily performance.</a:t>
            </a:r>
          </a:p>
          <a:p>
            <a:r>
              <a:rPr lang="en-US"/>
              <a:t>We also measured 30-day rolling volatility to understand short-term risk, and cumulative returns to evaluate long-term growth.</a:t>
            </a:r>
          </a:p>
          <a:p>
            <a:r>
              <a:rPr lang="en-US"/>
              <a:t>Then we analyzed correlations and risk–return patterns to see how they move together.</a:t>
            </a:r>
          </a:p>
          <a:p>
            <a:r>
              <a:rPr lang="en-US"/>
              <a:t>All the analysis and graphs were done in Python </a:t>
            </a:r>
          </a:p>
          <a:p>
            <a:r>
              <a:rPr lang="en-US"/>
              <a:t>________________________________________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11 — Conclusion</a:t>
            </a:r>
          </a:p>
          <a:p>
            <a:r>
              <a:rPr lang="en-US"/>
              <a:t>To wrap up — gold continues to hold a timeless emotional and financial value in India.</a:t>
            </a:r>
          </a:p>
          <a:p>
            <a:r>
              <a:rPr lang="en-US"/>
              <a:t>However, the way we invest in it is evolving.</a:t>
            </a:r>
          </a:p>
          <a:p>
            <a:r>
              <a:rPr lang="en-US"/>
              <a:t>Our findings indicate that SGBs offer the most balanced option — combining safety, returns, and a contribution to the formal economy.</a:t>
            </a:r>
          </a:p>
          <a:p>
            <a:r>
              <a:rPr lang="en-US"/>
              <a:t>ETFs modernize access to gold and provide liquidity for market-savvy investors.</a:t>
            </a:r>
          </a:p>
          <a:p>
            <a:r>
              <a:rPr lang="en-US"/>
              <a:t>Physical gold, while sentimental, has become less efficient due to its costs and risks.</a:t>
            </a:r>
          </a:p>
          <a:p>
            <a:r>
              <a:rPr lang="en-US"/>
              <a:t>Overall, India is shifting from merely preserving wealth through gold to managing it intelligently through financial gold instruments.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33" r="0" b="-3333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6859482" y="5489330"/>
            <a:ext cx="456903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872362" y="8715025"/>
            <a:ext cx="543275" cy="543275"/>
          </a:xfrm>
          <a:custGeom>
            <a:avLst/>
            <a:gdLst/>
            <a:ahLst/>
            <a:cxnLst/>
            <a:rect r="r" b="b" t="t" l="l"/>
            <a:pathLst>
              <a:path h="543275" w="543275">
                <a:moveTo>
                  <a:pt x="0" y="0"/>
                </a:moveTo>
                <a:lnTo>
                  <a:pt x="543276" y="0"/>
                </a:lnTo>
                <a:lnTo>
                  <a:pt x="543276" y="543275"/>
                </a:lnTo>
                <a:lnTo>
                  <a:pt x="0" y="543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92357"/>
            <a:ext cx="16230600" cy="211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5"/>
              </a:lnSpc>
            </a:pPr>
            <a:r>
              <a:rPr lang="en-US" sz="4602">
                <a:solidFill>
                  <a:srgbClr val="FFFFF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Interlinkages and Price Dynamics among Gold ETFs, Sovereign </a:t>
            </a:r>
            <a:r>
              <a:rPr lang="en-US" sz="4602">
                <a:solidFill>
                  <a:srgbClr val="FFFFF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Bonds and Physical Gold in India</a:t>
            </a:r>
          </a:p>
          <a:p>
            <a:pPr algn="ctr">
              <a:lnSpc>
                <a:spcPts val="5615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6859482" y="3610639"/>
            <a:ext cx="456903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459223" y="990600"/>
            <a:ext cx="336955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HARIPRIYA &amp; SALONI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660808" y="1038225"/>
            <a:ext cx="5008220" cy="0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490694"/>
            <a:ext cx="10091839" cy="165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76"/>
              </a:lnSpc>
            </a:pPr>
            <a:r>
              <a:rPr lang="en-US" sz="11614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34707" y="3789543"/>
            <a:ext cx="6430212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u="sng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Why</a:t>
            </a:r>
            <a:r>
              <a:rPr lang="en-US" sz="3199" u="sng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 Study Gold Investments?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2573" y="4704714"/>
            <a:ext cx="15402854" cy="455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Gold h</a:t>
            </a: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as held a unique place in India both culturally and economically. 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Beyond its ornamental value, gold has been a store of value, a hedge against inflation, and a safe-haven asset during financial crises. </a:t>
            </a:r>
          </a:p>
          <a:p>
            <a:pPr algn="l" marL="561334" indent="-280667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According to the World Gold Council, India accounts for around 25% of global gold demand which the country meets almost entirely through imports, contributing to a widening current account deficit (CAD) and currency pressure. </a:t>
            </a:r>
          </a:p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Non-physical forms of gold like Sovereign Gold Bonds (SGBs) and Gold ETFs aim to modernize this traditi</a:t>
            </a: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on, offering the shine of gold without the burden of imports.</a:t>
            </a:r>
          </a:p>
          <a:p>
            <a:pPr algn="l" marL="561334" indent="-280667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Our paper examines the empirical relationships between these two instruments and gold.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120539" y="1028700"/>
            <a:ext cx="6138761" cy="3297872"/>
            <a:chOff x="0" y="0"/>
            <a:chExt cx="2235417" cy="1200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5417" cy="1200913"/>
            </a:xfrm>
            <a:custGeom>
              <a:avLst/>
              <a:gdLst/>
              <a:ahLst/>
              <a:cxnLst/>
              <a:rect r="r" b="b" t="t" l="l"/>
              <a:pathLst>
                <a:path h="1200913" w="2235417">
                  <a:moveTo>
                    <a:pt x="126115" y="0"/>
                  </a:moveTo>
                  <a:lnTo>
                    <a:pt x="2109302" y="0"/>
                  </a:lnTo>
                  <a:cubicBezTo>
                    <a:pt x="2178953" y="0"/>
                    <a:pt x="2235417" y="56464"/>
                    <a:pt x="2235417" y="126115"/>
                  </a:cubicBezTo>
                  <a:lnTo>
                    <a:pt x="2235417" y="1074798"/>
                  </a:lnTo>
                  <a:cubicBezTo>
                    <a:pt x="2235417" y="1144449"/>
                    <a:pt x="2178953" y="1200913"/>
                    <a:pt x="2109302" y="1200913"/>
                  </a:cubicBezTo>
                  <a:lnTo>
                    <a:pt x="126115" y="1200913"/>
                  </a:lnTo>
                  <a:cubicBezTo>
                    <a:pt x="56464" y="1200913"/>
                    <a:pt x="0" y="1144449"/>
                    <a:pt x="0" y="1074798"/>
                  </a:cubicBezTo>
                  <a:lnTo>
                    <a:pt x="0" y="126115"/>
                  </a:lnTo>
                  <a:cubicBezTo>
                    <a:pt x="0" y="56464"/>
                    <a:pt x="56464" y="0"/>
                    <a:pt x="12611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2008" r="0" b="-12008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14221" y="923925"/>
            <a:ext cx="12659559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Understanding Gold Investment Instruments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53166" y="3042873"/>
            <a:ext cx="5039658" cy="43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8968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Sovereign Gol</a:t>
            </a:r>
            <a:r>
              <a:rPr lang="en-US" b="true" sz="2600">
                <a:solidFill>
                  <a:srgbClr val="8968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Bonds (SGBs)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3090498"/>
            <a:ext cx="0" cy="6167802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417597" y="3042873"/>
            <a:ext cx="6225509" cy="43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true">
                <a:solidFill>
                  <a:srgbClr val="8968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Gold Exchange-Trade</a:t>
            </a:r>
            <a:r>
              <a:rPr lang="en-US" b="true" sz="2600">
                <a:solidFill>
                  <a:srgbClr val="8968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 Funds (ETFs)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61564"/>
            <a:ext cx="7689544" cy="388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Issue</a:t>
            </a:r>
            <a:r>
              <a:rPr lang="en-US" sz="2200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 by the Government of India and managed by the RBI.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Represent digital gold ownership – no physical gold involved.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Offer 2.5% annual interest (paid semi-annually) + price appreciation.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Tenure: 8 years (exit allowed after 5).</a:t>
            </a:r>
          </a:p>
          <a:p>
            <a:pPr algn="l" marL="474986" indent="-237493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No storage or purity risk, and capital gains are tax-free if held till maturity.</a:t>
            </a: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42954" y="4561564"/>
            <a:ext cx="7374796" cy="349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Tra</a:t>
            </a: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ded on stock exchanges like NSE/BSE.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Each unit = roughly 1 gram of gold, backed by physical gold.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Prices fluctuate daily — ideal for short-term trading or portfolio liquidity.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No interest income, but easy to buy/sell.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Subject to capital gains tax like other mutual funds.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80772"/>
            <a:ext cx="7689544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true">
                <a:solidFill>
                  <a:srgbClr val="89682C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(SGBs =</a:t>
            </a:r>
            <a:r>
              <a:rPr lang="en-US" sz="2000" i="true">
                <a:solidFill>
                  <a:srgbClr val="89682C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Safe, interest-earning alternative to physical gold.)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42954" y="3580772"/>
            <a:ext cx="7450617" cy="33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i="true">
                <a:solidFill>
                  <a:srgbClr val="89682C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(ETFs =</a:t>
            </a:r>
            <a:r>
              <a:rPr lang="en-US" sz="2000" i="true">
                <a:solidFill>
                  <a:srgbClr val="89682C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Liquid, market-linked gold exposure.)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3639" y="1435441"/>
            <a:ext cx="15781400" cy="111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RESEARCH OBJECTIVE</a:t>
            </a:r>
          </a:p>
        </p:txBody>
      </p:sp>
      <p:sp>
        <p:nvSpPr>
          <p:cNvPr name="AutoShape 3" id="3"/>
          <p:cNvSpPr/>
          <p:nvPr/>
        </p:nvSpPr>
        <p:spPr>
          <a:xfrm>
            <a:off x="4958199" y="2553979"/>
            <a:ext cx="8371602" cy="0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90921" y="4053368"/>
            <a:ext cx="15781400" cy="3909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1" indent="-345435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To compar</a:t>
            </a: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e the returns and volatility of SGBs, ETFs, and Physical Gold.</a:t>
            </a:r>
          </a:p>
          <a:p>
            <a:pPr algn="l" marL="690871" indent="-345435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To evaluate liquidity and investor suitability of each instrument.</a:t>
            </a:r>
          </a:p>
          <a:p>
            <a:pPr algn="l" marL="690871" indent="-345435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To identify which instrument offers the best risk-adjusted performance for different investor types.</a:t>
            </a:r>
          </a:p>
          <a:p>
            <a:pPr algn="l" marL="690871" indent="-345435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To understand the policy implications of promoting financial gold over physical holdings.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579305" y="3174050"/>
            <a:ext cx="4581842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ata and Variables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7579305" y="3847884"/>
            <a:ext cx="9302803" cy="9525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01407" y="2769809"/>
            <a:ext cx="5934226" cy="4747381"/>
          </a:xfrm>
          <a:custGeom>
            <a:avLst/>
            <a:gdLst/>
            <a:ahLst/>
            <a:cxnLst/>
            <a:rect r="r" b="b" t="t" l="l"/>
            <a:pathLst>
              <a:path h="4747381" w="5934226">
                <a:moveTo>
                  <a:pt x="0" y="0"/>
                </a:moveTo>
                <a:lnTo>
                  <a:pt x="5934227" y="0"/>
                </a:lnTo>
                <a:lnTo>
                  <a:pt x="5934227" y="4747382"/>
                </a:lnTo>
                <a:lnTo>
                  <a:pt x="0" y="47473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202113" y="1114425"/>
            <a:ext cx="10057187" cy="137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17"/>
              </a:lnSpc>
            </a:pPr>
            <a:r>
              <a:rPr lang="en-US" sz="9652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DATA DESCRIPTION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85278" y="4198103"/>
            <a:ext cx="10074022" cy="371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162" indent="-325581" lvl="1">
              <a:lnSpc>
                <a:spcPts val="4222"/>
              </a:lnSpc>
              <a:buFont typeface="Arial"/>
              <a:buChar char="•"/>
            </a:pPr>
            <a:r>
              <a:rPr lang="en-US" sz="3016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Data Period: January 2015 – October 2025</a:t>
            </a:r>
          </a:p>
          <a:p>
            <a:pPr algn="l" marL="651162" indent="-325581" lvl="1">
              <a:lnSpc>
                <a:spcPts val="4222"/>
              </a:lnSpc>
              <a:buFont typeface="Arial"/>
              <a:buChar char="•"/>
            </a:pPr>
            <a:r>
              <a:rPr lang="en-US" sz="3016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Sovereign Gold Bonds (SGBs) – daily prices from RBI/secondary market</a:t>
            </a:r>
          </a:p>
          <a:p>
            <a:pPr algn="l" marL="651162" indent="-325581" lvl="1">
              <a:lnSpc>
                <a:spcPts val="4222"/>
              </a:lnSpc>
              <a:buFont typeface="Arial"/>
              <a:buChar char="•"/>
            </a:pPr>
            <a:r>
              <a:rPr lang="en-US" sz="3016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Gold ETFs – daily trading prices from NSE</a:t>
            </a:r>
          </a:p>
          <a:p>
            <a:pPr algn="l" marL="651162" indent="-325581" lvl="1">
              <a:lnSpc>
                <a:spcPts val="4222"/>
              </a:lnSpc>
              <a:buFont typeface="Arial"/>
              <a:buChar char="•"/>
            </a:pPr>
            <a:r>
              <a:rPr lang="en-US" sz="3016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Physical Gold – daily gold futures prices (USD), converted to INR using exchange rate data (Yahoo Finance).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6636" y="8407707"/>
            <a:ext cx="16574728" cy="89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 i="true">
                <a:solidFill>
                  <a:srgbClr val="89682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This ten-year window captures both crises and recovery — perfect for testing how resilient each form of gold investment really 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3639" y="1435441"/>
            <a:ext cx="15781400" cy="111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6"/>
              </a:lnSpc>
            </a:pPr>
            <a:r>
              <a:rPr lang="en-US" sz="7823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Summary statistics</a:t>
            </a:r>
          </a:p>
        </p:txBody>
      </p:sp>
      <p:sp>
        <p:nvSpPr>
          <p:cNvPr name="AutoShape 3" id="3"/>
          <p:cNvSpPr/>
          <p:nvPr/>
        </p:nvSpPr>
        <p:spPr>
          <a:xfrm>
            <a:off x="4958199" y="2553979"/>
            <a:ext cx="8371602" cy="0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53300" y="3423734"/>
            <a:ext cx="15781400" cy="503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1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All three instruments showcased an upward trend which indicates the global rise in gold prices driven by multiple macroeconomic events.</a:t>
            </a:r>
          </a:p>
          <a:p>
            <a:pPr algn="l" marL="690871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SGB price series were comparatively smoother and less volatile whereas Gold ETFs and physical gold show greater sensitivity to daily global shocks.</a:t>
            </a:r>
          </a:p>
          <a:p>
            <a:pPr algn="l" marL="690871" indent="-345435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The surge in volatility during 2020-2021 was most evident in ETFs and least in SGBs.</a:t>
            </a:r>
          </a:p>
          <a:p>
            <a:pPr algn="l" marL="690871" indent="-345435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Even it gradually decilned for all three instruments, in the long run ETFs tend to be the most volatile.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127027" y="2731479"/>
            <a:ext cx="8115300" cy="0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>
            <a:off x="2017003" y="1898102"/>
            <a:ext cx="9525" cy="7360185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3249" y="1028700"/>
            <a:ext cx="2008458" cy="8713869"/>
          </a:xfrm>
          <a:custGeom>
            <a:avLst/>
            <a:gdLst/>
            <a:ahLst/>
            <a:cxnLst/>
            <a:rect r="r" b="b" t="t" l="l"/>
            <a:pathLst>
              <a:path h="8713869" w="2008458">
                <a:moveTo>
                  <a:pt x="0" y="0"/>
                </a:moveTo>
                <a:lnTo>
                  <a:pt x="2008458" y="0"/>
                </a:lnTo>
                <a:lnTo>
                  <a:pt x="2008458" y="8713869"/>
                </a:lnTo>
                <a:lnTo>
                  <a:pt x="0" y="8713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6" r="0" b="-10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27027" y="665606"/>
            <a:ext cx="8079385" cy="14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44"/>
              </a:lnSpc>
            </a:pPr>
            <a:r>
              <a:rPr lang="en-US" sz="9858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475464"/>
            <a:ext cx="9525" cy="142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22499" y="1667782"/>
            <a:ext cx="1569958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0788" y="3949902"/>
            <a:ext cx="1352431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4341" y="6236603"/>
            <a:ext cx="1678424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019" y="8457264"/>
            <a:ext cx="1828919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3193" y="3328945"/>
            <a:ext cx="13466107" cy="604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417" indent="-312208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Two datasets were derived:</a:t>
            </a:r>
            <a:r>
              <a:rPr lang="en-US" b="true" sz="2892">
                <a:solidFill>
                  <a:srgbClr val="89682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Daliy returns data and Price index data.</a:t>
            </a:r>
          </a:p>
          <a:p>
            <a:pPr algn="l" marL="624417" indent="-312208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Data cleaned, aligned by trading dates, and merged for consistency.</a:t>
            </a:r>
          </a:p>
          <a:p>
            <a:pPr algn="l" marL="624417" indent="-312208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Regression analysis and correlation measures were applied to understand basic relationships between the variables.</a:t>
            </a:r>
          </a:p>
          <a:p>
            <a:pPr algn="l" marL="624417" indent="-312208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ARCH and ADF tests were conducted to detect volatility clustering and to confirm the stability of return series over time.</a:t>
            </a:r>
          </a:p>
          <a:p>
            <a:pPr algn="l" marL="624417" indent="-312208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Granger causality analysis was used to assess whether movements in gold prices influence SGBs and gold ETFs in the long run.</a:t>
            </a:r>
          </a:p>
          <a:p>
            <a:pPr algn="l" marL="624417" indent="-312208" lvl="1">
              <a:lnSpc>
                <a:spcPts val="4049"/>
              </a:lnSpc>
              <a:buFont typeface="Arial"/>
              <a:buChar char="•"/>
            </a:pPr>
            <a:r>
              <a:rPr lang="en-US" sz="2892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Finally, the Johansen cointegration test was employed to determine whether these assets share a stable long-term equilibrium relationship.</a:t>
            </a:r>
          </a:p>
          <a:p>
            <a:pPr algn="l">
              <a:lnSpc>
                <a:spcPts val="404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028107" y="2110966"/>
            <a:ext cx="8102679" cy="48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  <a:r>
              <a:rPr lang="en-US" sz="2925" i="true">
                <a:solidFill>
                  <a:srgbClr val="91610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“Turning Raw Data into Financial Insights”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431834"/>
            <a:ext cx="3556875" cy="0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924205" y="1982383"/>
            <a:ext cx="6335095" cy="5635360"/>
          </a:xfrm>
          <a:custGeom>
            <a:avLst/>
            <a:gdLst/>
            <a:ahLst/>
            <a:cxnLst/>
            <a:rect r="r" b="b" t="t" l="l"/>
            <a:pathLst>
              <a:path h="5635360" w="6335095">
                <a:moveTo>
                  <a:pt x="0" y="0"/>
                </a:moveTo>
                <a:lnTo>
                  <a:pt x="6335095" y="0"/>
                </a:lnTo>
                <a:lnTo>
                  <a:pt x="6335095" y="5635361"/>
                </a:lnTo>
                <a:lnTo>
                  <a:pt x="0" y="5635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5670"/>
            <a:ext cx="7707931" cy="13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24"/>
              </a:lnSpc>
            </a:pPr>
            <a:r>
              <a:rPr lang="en-US" sz="9658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6921" y="2810026"/>
            <a:ext cx="2372070" cy="47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89682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Correlation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40974"/>
            <a:ext cx="9146236" cy="4812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504" indent="-271252" lvl="1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b="true" sz="2512">
                <a:solidFill>
                  <a:srgbClr val="8968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SGB–Gold correlation</a:t>
            </a:r>
            <a:r>
              <a:rPr lang="en-US" sz="2512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 of 0.71 shows that they usually move in the same direction.</a:t>
            </a:r>
          </a:p>
          <a:p>
            <a:pPr algn="l" marL="542504" indent="-271252" lvl="1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</a:t>
            </a:r>
            <a:r>
              <a:rPr lang="en-US" b="true" sz="2512">
                <a:solidFill>
                  <a:srgbClr val="89682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ETF–Gold correlation </a:t>
            </a:r>
            <a:r>
              <a:rPr lang="en-US" sz="2512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of –0.13 implies ETFs behave differently because they react quickly to daily market movements.</a:t>
            </a:r>
          </a:p>
          <a:p>
            <a:pPr algn="l" marL="542504" indent="-271252" lvl="1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SGBs follow the general trend of gold but have smoother returns because they earn interest and are traded less often.</a:t>
            </a:r>
          </a:p>
          <a:p>
            <a:pPr algn="l" marL="542504" indent="-271252" lvl="1">
              <a:lnSpc>
                <a:spcPts val="3517"/>
              </a:lnSpc>
              <a:buFont typeface="Arial"/>
              <a:buChar char="•"/>
            </a:pPr>
            <a:r>
              <a:rPr lang="en-US" sz="2512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This smoother movement makes SGBs useful for reducing risk in a gold-focused portfolio while still keeping good returns.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6583" y="9044500"/>
            <a:ext cx="1562611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b="true" sz="2800" i="true">
                <a:solidFill>
                  <a:srgbClr val="89682C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SGBs work like gol</a:t>
            </a:r>
            <a:r>
              <a:rPr lang="en-US" b="true" sz="2800" i="true">
                <a:solidFill>
                  <a:srgbClr val="89682C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d with added stability, thanks to their fixed interest and lower volatility.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374278" y="3440709"/>
            <a:ext cx="0" cy="5817591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013128" y="4429495"/>
            <a:ext cx="3766135" cy="877917"/>
          </a:xfrm>
          <a:custGeom>
            <a:avLst/>
            <a:gdLst/>
            <a:ahLst/>
            <a:cxnLst/>
            <a:rect r="r" b="b" t="t" l="l"/>
            <a:pathLst>
              <a:path h="877917" w="3766135">
                <a:moveTo>
                  <a:pt x="0" y="0"/>
                </a:moveTo>
                <a:lnTo>
                  <a:pt x="3766135" y="0"/>
                </a:lnTo>
                <a:lnTo>
                  <a:pt x="3766135" y="877917"/>
                </a:lnTo>
                <a:lnTo>
                  <a:pt x="0" y="877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9424" y="4274968"/>
            <a:ext cx="4401471" cy="1032444"/>
          </a:xfrm>
          <a:custGeom>
            <a:avLst/>
            <a:gdLst/>
            <a:ahLst/>
            <a:cxnLst/>
            <a:rect r="r" b="b" t="t" l="l"/>
            <a:pathLst>
              <a:path h="1032444" w="4401471">
                <a:moveTo>
                  <a:pt x="0" y="0"/>
                </a:moveTo>
                <a:lnTo>
                  <a:pt x="4401471" y="0"/>
                </a:lnTo>
                <a:lnTo>
                  <a:pt x="4401471" y="1032444"/>
                </a:lnTo>
                <a:lnTo>
                  <a:pt x="0" y="1032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205" y="923925"/>
            <a:ext cx="5487591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91610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Regression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85714"/>
            <a:ext cx="8345578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91610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1:  SGB on Gold Returns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414454"/>
            <a:ext cx="7734991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91610F"/>
                </a:solidFill>
                <a:latin typeface="Montserrat"/>
                <a:ea typeface="Montserrat"/>
                <a:cs typeface="Montserrat"/>
                <a:sym typeface="Montserrat"/>
              </a:rPr>
              <a:t>A 1% rise in gold returns leads to a 0.77% rise in SGB returns.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91610F"/>
                </a:solidFill>
                <a:latin typeface="Montserrat"/>
                <a:ea typeface="Montserrat"/>
                <a:cs typeface="Montserrat"/>
                <a:sym typeface="Montserrat"/>
              </a:rPr>
              <a:t>Highly significant (p &lt; 0.001), R² = 0.51 → gold explains about half of SGB movements.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91610F"/>
                </a:solidFill>
                <a:latin typeface="Montserrat"/>
                <a:ea typeface="Montserrat"/>
                <a:cs typeface="Montserrat"/>
                <a:sym typeface="Montserrat"/>
              </a:rPr>
              <a:t>Remaining variation comes from interest income and lower trading activity, which make SGBs smoother.</a:t>
            </a:r>
          </a:p>
          <a:p>
            <a:pPr algn="ctr">
              <a:lnSpc>
                <a:spcPts val="30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99396"/>
            <a:ext cx="16230600" cy="124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1"/>
              </a:lnSpc>
            </a:pPr>
            <a:r>
              <a:rPr lang="en-US" sz="2199" b="true">
                <a:solidFill>
                  <a:srgbClr val="91610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Setup :</a:t>
            </a:r>
          </a:p>
          <a:p>
            <a:pPr algn="just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Dependent variables:  SGB Returns, ETF Returns                       2. Independent variable:  Gold Returns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374278" y="3869320"/>
            <a:ext cx="8258866" cy="3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91610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2: ETF on Gold Returns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8153" y="5414454"/>
            <a:ext cx="7734991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91610F"/>
                </a:solidFill>
                <a:latin typeface="Montserrat"/>
                <a:ea typeface="Montserrat"/>
                <a:cs typeface="Montserrat"/>
                <a:sym typeface="Montserrat"/>
              </a:rPr>
              <a:t>A 1% rise in gold returns leads to a 0.88% rise in ETF returns.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91610F"/>
                </a:solidFill>
                <a:latin typeface="Montserrat"/>
                <a:ea typeface="Montserrat"/>
                <a:cs typeface="Montserrat"/>
                <a:sym typeface="Montserrat"/>
              </a:rPr>
              <a:t>Highly significant (p &lt; 0.001), R² = 0.74 → gold explains 74% of ETF movements.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91610F"/>
                </a:solidFill>
                <a:latin typeface="Montserrat"/>
                <a:ea typeface="Montserrat"/>
                <a:cs typeface="Montserrat"/>
                <a:sym typeface="Montserrat"/>
              </a:rPr>
              <a:t>ETFs move almost one-to-one with gold, showing strong price responsiveness.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257008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91610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ARCH Test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67907"/>
            <a:ext cx="16230600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ARCH test was conducted to check whether the returns of SGBs, Gold ETFs, and Physical gold exhibit volatility clustering. The results show: 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p-values: SGB = 0.33, ETF = 0.19, Gold = 0.87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All p-values &gt; 0.05 → no volatility clustering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Return spikes are isolated, not persistent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Movements are relatively stable and random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268286"/>
            <a:ext cx="7286054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91610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Johansen Cointegration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542405"/>
            <a:ext cx="15892083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Johansen test is used to check whether SGBs, ETFs, and physical gold share a stable long-run price relationship, even though their short-term movements differ.At least one cointegrating relationship among SGB, ETF &amp; Gold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test s</a:t>
            </a: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howed a long-run equilibrium despite short-term differences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Prices eventually converged back to a common trend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results r</a:t>
            </a: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eflected growing financialization of gold markets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Indicates India is shifting from gold as consumption → to gold as investment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6895" y="923925"/>
            <a:ext cx="510063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91610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Granger Causality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6895" y="2063433"/>
            <a:ext cx="16062405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Granger test is used to check whether past values of one variable can help predict another variable. 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results show that :</a:t>
            </a: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Gold returns predict SGB returns at a one-period lag (p</a:t>
            </a: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 = 0.031)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SGB prices adjust with a slight delay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Gold does not Granger-cause ETF r</a:t>
            </a: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eturns (p &gt; 0.75)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ETFs react instantly due to higher liquidity and active trading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96895" y="5038725"/>
            <a:ext cx="235886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91610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ADF Test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6895" y="6316345"/>
            <a:ext cx="16062405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ADF test is used to check whether a time series is stationary, meaning its mean and variance remain stable over time. 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The results show :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All return series have p-values &lt; 0.01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Returns are stationary, mean-reverting, and stable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89682C"/>
                </a:solidFill>
                <a:latin typeface="Canva Sans"/>
                <a:ea typeface="Canva Sans"/>
                <a:cs typeface="Canva Sans"/>
                <a:sym typeface="Canva Sans"/>
              </a:rPr>
              <a:t>Suitable for regression, causality, and time-series analysis</a:t>
            </a:r>
          </a:p>
          <a:p>
            <a:pPr algn="l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2609332"/>
            <a:ext cx="16230600" cy="0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267097" y="3459063"/>
            <a:ext cx="4346018" cy="4346018"/>
          </a:xfrm>
          <a:custGeom>
            <a:avLst/>
            <a:gdLst/>
            <a:ahLst/>
            <a:cxnLst/>
            <a:rect r="r" b="b" t="t" l="l"/>
            <a:pathLst>
              <a:path h="4346018" w="4346018">
                <a:moveTo>
                  <a:pt x="0" y="0"/>
                </a:moveTo>
                <a:lnTo>
                  <a:pt x="4346018" y="0"/>
                </a:lnTo>
                <a:lnTo>
                  <a:pt x="4346018" y="4346018"/>
                </a:lnTo>
                <a:lnTo>
                  <a:pt x="0" y="4346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14425"/>
            <a:ext cx="5945499" cy="1223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6"/>
              </a:lnSpc>
            </a:pPr>
            <a:r>
              <a:rPr lang="en-US" sz="8606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519716"/>
            <a:ext cx="10866304" cy="438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All three instruments are linked but behave differently in the short run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ETFs: strongest reaction to gold price changes; highly liquid and efficient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SGBs: smoother returns due to fixed interest and lower trading frequency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SGBs bridge the gap between traditional gold and modern financial gold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ETFs suit active investors; SGBs suit long-term, risk-averse savers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Together, SGBs and ETFs modernize gold savings and reduce reliance on imports</a:t>
            </a:r>
          </a:p>
          <a:p>
            <a:pPr algn="l" marL="496566" indent="-248283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89682C"/>
                </a:solidFill>
                <a:latin typeface="Montserrat"/>
                <a:ea typeface="Montserrat"/>
                <a:cs typeface="Montserrat"/>
                <a:sym typeface="Montserrat"/>
              </a:rPr>
              <a:t>SGBs combine the stability of fixed-income with the value of gold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07187"/>
            <a:ext cx="16230600" cy="81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 i="true">
                <a:solidFill>
                  <a:srgbClr val="89682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The shift towar</a:t>
            </a:r>
            <a:r>
              <a:rPr lang="en-US" b="true" sz="2400" i="true">
                <a:solidFill>
                  <a:srgbClr val="89682C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 financial gold instruments reflects India’s evolving investor mindset from preserving wealth to managing it intelligently.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20081"/>
            <a:ext cx="14825812" cy="227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3"/>
              </a:lnSpc>
            </a:pPr>
            <a:r>
              <a:rPr lang="en-US" sz="15930">
                <a:solidFill>
                  <a:srgbClr val="89682C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Thank You !</a:t>
            </a:r>
          </a:p>
        </p:txBody>
      </p:sp>
      <p:sp>
        <p:nvSpPr>
          <p:cNvPr name="AutoShape 3" id="3"/>
          <p:cNvSpPr/>
          <p:nvPr/>
        </p:nvSpPr>
        <p:spPr>
          <a:xfrm>
            <a:off x="1788670" y="5781610"/>
            <a:ext cx="14710660" cy="55294"/>
          </a:xfrm>
          <a:prstGeom prst="line">
            <a:avLst/>
          </a:prstGeom>
          <a:ln cap="flat" w="19050">
            <a:solidFill>
              <a:srgbClr val="89682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DAG3fGgk4dY</dc:identifier>
  <dcterms:modified xsi:type="dcterms:W3CDTF">2011-08-01T06:04:30Z</dcterms:modified>
  <cp:revision>1</cp:revision>
  <dc:title>FIS Term paper</dc:title>
</cp:coreProperties>
</file>